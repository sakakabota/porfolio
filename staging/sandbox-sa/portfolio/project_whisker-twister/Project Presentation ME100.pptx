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Barlow ExtraLight"/>
      <p:regular r:id="rId17"/>
      <p:bold r:id="rId18"/>
      <p:italic r:id="rId19"/>
      <p:boldItalic r:id="rId20"/>
    </p:embeddedFont>
    <p:embeddedFont>
      <p:font typeface="Hepta Slab Medium"/>
      <p:regular r:id="rId21"/>
      <p:bold r:id="rId22"/>
    </p:embeddedFont>
    <p:embeddedFont>
      <p:font typeface="Hepta Slab Light"/>
      <p:regular r:id="rId23"/>
      <p:bold r:id="rId24"/>
    </p:embeddedFont>
    <p:embeddedFont>
      <p:font typeface="Hepta Slab"/>
      <p:regular r:id="rId25"/>
      <p:bold r:id="rId26"/>
    </p:embeddedFont>
    <p:embeddedFont>
      <p:font typeface="Barlow Medium"/>
      <p:regular r:id="rId27"/>
      <p:bold r:id="rId28"/>
      <p:italic r:id="rId29"/>
      <p:boldItalic r:id="rId30"/>
    </p:embeddedFont>
    <p:embeddedFont>
      <p:font typeface="Barlow SemiBold"/>
      <p:regular r:id="rId31"/>
      <p:bold r:id="rId32"/>
      <p:italic r:id="rId33"/>
      <p:boldItalic r:id="rId34"/>
    </p:embeddedFont>
    <p:embeddedFont>
      <p:font typeface="Barlow Light"/>
      <p:regular r:id="rId35"/>
      <p:bold r:id="rId36"/>
      <p:italic r:id="rId37"/>
      <p:boldItalic r:id="rId38"/>
    </p:embeddedFont>
    <p:embeddedFont>
      <p:font typeface="Barlow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.fntdata"/><Relationship Id="rId20" Type="http://schemas.openxmlformats.org/officeDocument/2006/relationships/font" Target="fonts/BarlowExtraLight-boldItalic.fntdata"/><Relationship Id="rId42" Type="http://schemas.openxmlformats.org/officeDocument/2006/relationships/font" Target="fonts/Barlow-boldItalic.fntdata"/><Relationship Id="rId41" Type="http://schemas.openxmlformats.org/officeDocument/2006/relationships/font" Target="fonts/Barlow-italic.fntdata"/><Relationship Id="rId22" Type="http://schemas.openxmlformats.org/officeDocument/2006/relationships/font" Target="fonts/HeptaSlabMedium-bold.fntdata"/><Relationship Id="rId21" Type="http://schemas.openxmlformats.org/officeDocument/2006/relationships/font" Target="fonts/HeptaSlabMedium-regular.fntdata"/><Relationship Id="rId24" Type="http://schemas.openxmlformats.org/officeDocument/2006/relationships/font" Target="fonts/HeptaSlabLight-bold.fntdata"/><Relationship Id="rId23" Type="http://schemas.openxmlformats.org/officeDocument/2006/relationships/font" Target="fonts/HeptaSlab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ptaSlab-bold.fntdata"/><Relationship Id="rId25" Type="http://schemas.openxmlformats.org/officeDocument/2006/relationships/font" Target="fonts/HeptaSlab-regular.fntdata"/><Relationship Id="rId28" Type="http://schemas.openxmlformats.org/officeDocument/2006/relationships/font" Target="fonts/BarlowMedium-bold.fntdata"/><Relationship Id="rId27" Type="http://schemas.openxmlformats.org/officeDocument/2006/relationships/font" Target="fonts/Barlow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SemiBold-regular.fntdata"/><Relationship Id="rId30" Type="http://schemas.openxmlformats.org/officeDocument/2006/relationships/font" Target="fonts/Barlow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BarlowSemiBold-italic.fntdata"/><Relationship Id="rId10" Type="http://schemas.openxmlformats.org/officeDocument/2006/relationships/slide" Target="slides/slide4.xml"/><Relationship Id="rId32" Type="http://schemas.openxmlformats.org/officeDocument/2006/relationships/font" Target="fonts/BarlowSemiBold-bold.fntdata"/><Relationship Id="rId13" Type="http://schemas.openxmlformats.org/officeDocument/2006/relationships/slide" Target="slides/slide7.xml"/><Relationship Id="rId35" Type="http://schemas.openxmlformats.org/officeDocument/2006/relationships/font" Target="fonts/BarlowLight-regular.fntdata"/><Relationship Id="rId12" Type="http://schemas.openxmlformats.org/officeDocument/2006/relationships/slide" Target="slides/slide6.xml"/><Relationship Id="rId34" Type="http://schemas.openxmlformats.org/officeDocument/2006/relationships/font" Target="fonts/Barlow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BarlowLight-italic.fntdata"/><Relationship Id="rId14" Type="http://schemas.openxmlformats.org/officeDocument/2006/relationships/slide" Target="slides/slide8.xml"/><Relationship Id="rId36" Type="http://schemas.openxmlformats.org/officeDocument/2006/relationships/font" Target="fonts/BarlowLight-bold.fntdata"/><Relationship Id="rId17" Type="http://schemas.openxmlformats.org/officeDocument/2006/relationships/font" Target="fonts/BarlowExtraLight-regular.fntdata"/><Relationship Id="rId39" Type="http://schemas.openxmlformats.org/officeDocument/2006/relationships/font" Target="fonts/Barlow-regular.fntdata"/><Relationship Id="rId16" Type="http://schemas.openxmlformats.org/officeDocument/2006/relationships/slide" Target="slides/slide10.xml"/><Relationship Id="rId38" Type="http://schemas.openxmlformats.org/officeDocument/2006/relationships/font" Target="fonts/BarlowLight-boldItalic.fntdata"/><Relationship Id="rId19" Type="http://schemas.openxmlformats.org/officeDocument/2006/relationships/font" Target="fonts/BarlowExtraLight-italic.fntdata"/><Relationship Id="rId18" Type="http://schemas.openxmlformats.org/officeDocument/2006/relationships/font" Target="fonts/BarlowExtra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4db1cd56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4db1cd56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db1cd560e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db1cd560e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db1cd560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4db1cd560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fb7a42f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fb7a42f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4db70dd8a7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4db70dd8a7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fb7a42f9b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fb7a42f9b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4fb7a42f9b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4fb7a42f9b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db1cd560e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4db1cd560e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db1cd560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4db1cd560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db1cd560e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db1cd560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DEOKjNPOJerzq74OhYRJfrAKfZevxoS78E4TIZQLJvw/edit?tab=t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Project Review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ME100</a:t>
            </a:r>
            <a:endParaRPr/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Team 100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subTitle"/>
          </p:nvPr>
        </p:nvSpPr>
        <p:spPr>
          <a:xfrm>
            <a:off x="475075" y="309225"/>
            <a:ext cx="37386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Project Materials</a:t>
            </a:r>
            <a:endParaRPr sz="3000"/>
          </a:p>
        </p:txBody>
      </p:sp>
      <p:sp>
        <p:nvSpPr>
          <p:cNvPr id="378" name="Google Shape;378;p60"/>
          <p:cNvSpPr txBox="1"/>
          <p:nvPr>
            <p:ph idx="2" type="body"/>
          </p:nvPr>
        </p:nvSpPr>
        <p:spPr>
          <a:xfrm>
            <a:off x="0" y="1076075"/>
            <a:ext cx="79278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ESP32 × 3</a:t>
            </a:r>
            <a:b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</a:b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 • One for turret sensors (ultrasonic,)</a:t>
            </a:r>
            <a:b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</a:b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 • One for base motor + laser control</a:t>
            </a:r>
            <a:b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</a:b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 • One for light-check (</a:t>
            </a: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photoresistor)</a:t>
            </a: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 and button trigger logic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DRV8833 Motor Driver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12V DC Motor w/ Encoder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RCWL-1601 UDS (Ultrasonic Distance Sensor)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Photoresistor (LDR GM5539)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Laser Pointer (5mW, 650nm)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Char char="●"/>
            </a:pP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Button</a:t>
            </a:r>
            <a:b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</a:br>
            <a:r>
              <a:rPr lang="en" sz="1900">
                <a:latin typeface="Hepta Slab Medium"/>
                <a:ea typeface="Hepta Slab Medium"/>
                <a:cs typeface="Hepta Slab Medium"/>
                <a:sym typeface="Hepta Slab Medium"/>
              </a:rPr>
              <a:t> 5V Power Supply</a:t>
            </a:r>
            <a:endParaRPr sz="19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idx="1" type="body"/>
          </p:nvPr>
        </p:nvSpPr>
        <p:spPr>
          <a:xfrm>
            <a:off x="311700" y="1152475"/>
            <a:ext cx="83562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ESP32 (Sensor Unit)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Reads distance from ultrasonic sensor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Monitors ambient light with photoresistor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Sends event triggers to base ESP via ESP-NOW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ESP32 (Base Controller)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Drives the motor for turret rotation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Controls the servo aiming the laser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Handles movement logic based on sensor triggers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ESP32 (Trigger Node)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Reads button press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Only enables toy operation if photoresistor detects low ambient light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Acts as a safety and context-aware activation node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DRV8833 Motor Driver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Bridges control signals from ESP32 to the DC motor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ExtraLight"/>
              <a:buChar char="●"/>
            </a:pPr>
            <a:r>
              <a:rPr lang="en" sz="1600">
                <a:latin typeface="Barlow ExtraLight"/>
                <a:ea typeface="Barlow ExtraLight"/>
                <a:cs typeface="Barlow ExtraLight"/>
                <a:sym typeface="Barlow ExtraLight"/>
              </a:rPr>
              <a:t>Allows directional PWM control for smooth laser motion</a:t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  <p:sp>
        <p:nvSpPr>
          <p:cNvPr id="384" name="Google Shape;38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Functionality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2"/>
          <p:cNvSpPr txBox="1"/>
          <p:nvPr>
            <p:ph idx="1" type="body"/>
          </p:nvPr>
        </p:nvSpPr>
        <p:spPr>
          <a:xfrm>
            <a:off x="311700" y="1083375"/>
            <a:ext cx="7655400" cy="3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12V DC Motor w/ Encoder 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Drives turret rotation with closed-loop feedback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Encoder allows precise positioning and randomized redirection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RCWL-1601 UDS (Ultrasonic Sensor)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Detects when the cat paw approaches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2–450 cm range with ~50ms measurement period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Laser Pointer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Bright, low-power (5mW) red laser (650nm) for cat engagement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Mounted on servo for directional redirection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Photoresistor (LDR GM5539)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Detects ambient lighting conditions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Prevents toy from activating during bright daylight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Enables play only in dim lighting (e.g., evening)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Momentary Button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Manual activation switch for the entire system</a:t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 ExtraLight"/>
              <a:buChar char="●"/>
            </a:pPr>
            <a:r>
              <a:rPr lang="en" sz="1500">
                <a:latin typeface="Barlow ExtraLight"/>
                <a:ea typeface="Barlow ExtraLight"/>
                <a:cs typeface="Barlow ExtraLight"/>
                <a:sym typeface="Barlow ExtraLight"/>
              </a:rPr>
              <a:t>Works in combination with the photoresistor to trigger the play state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  <p:sp>
        <p:nvSpPr>
          <p:cNvPr id="390" name="Google Shape;39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Functionality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LAYOUT - BASE</a:t>
            </a:r>
            <a:endParaRPr/>
          </a:p>
        </p:txBody>
      </p:sp>
      <p:pic>
        <p:nvPicPr>
          <p:cNvPr id="396" name="Google Shape;396;p63" title="Screenshot 2025-04-23 at 7.17.28 PM.png"/>
          <p:cNvPicPr preferRelativeResize="0"/>
          <p:nvPr/>
        </p:nvPicPr>
        <p:blipFill rotWithShape="1">
          <a:blip r:embed="rId3">
            <a:alphaModFix/>
          </a:blip>
          <a:srcRect b="0" l="0" r="9665" t="0"/>
          <a:stretch/>
        </p:blipFill>
        <p:spPr>
          <a:xfrm>
            <a:off x="581400" y="1129700"/>
            <a:ext cx="6546452" cy="3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LAYOUT - SENSOR</a:t>
            </a:r>
            <a:endParaRPr/>
          </a:p>
        </p:txBody>
      </p:sp>
      <p:pic>
        <p:nvPicPr>
          <p:cNvPr id="402" name="Google Shape;402;p64" title="Screenshot 2025-04-23 at 7.48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5" y="1061525"/>
            <a:ext cx="6965601" cy="376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LAYOUT - TRIGGER</a:t>
            </a:r>
            <a:endParaRPr/>
          </a:p>
        </p:txBody>
      </p:sp>
      <p:pic>
        <p:nvPicPr>
          <p:cNvPr id="408" name="Google Shape;408;p65" title="Screenshot 2025-04-23 at 7.56.55 PM.png"/>
          <p:cNvPicPr preferRelativeResize="0"/>
          <p:nvPr/>
        </p:nvPicPr>
        <p:blipFill rotWithShape="1">
          <a:blip r:embed="rId3">
            <a:alphaModFix/>
          </a:blip>
          <a:srcRect b="5566" l="0" r="0" t="11232"/>
          <a:stretch/>
        </p:blipFill>
        <p:spPr>
          <a:xfrm>
            <a:off x="468325" y="1243925"/>
            <a:ext cx="7740851" cy="3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/>
          <p:nvPr>
            <p:ph type="title"/>
          </p:nvPr>
        </p:nvSpPr>
        <p:spPr>
          <a:xfrm>
            <a:off x="128600" y="445025"/>
            <a:ext cx="31719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RELEVANT CAD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414" name="Google Shape;414;p66" title="Screenshot 2025-04-23 at 7.59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5" y="1738600"/>
            <a:ext cx="2862072" cy="267004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6"/>
          <p:cNvSpPr txBox="1"/>
          <p:nvPr/>
        </p:nvSpPr>
        <p:spPr>
          <a:xfrm>
            <a:off x="126700" y="4606725"/>
            <a:ext cx="286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Servo + Ultrasonic Mount</a:t>
            </a:r>
            <a:endParaRPr sz="1500">
              <a:solidFill>
                <a:schemeClr val="lt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416" name="Google Shape;416;p66"/>
          <p:cNvSpPr txBox="1"/>
          <p:nvPr/>
        </p:nvSpPr>
        <p:spPr>
          <a:xfrm>
            <a:off x="3230650" y="4606725"/>
            <a:ext cx="286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Cat Toy Base</a:t>
            </a:r>
            <a:endParaRPr sz="1500">
              <a:solidFill>
                <a:schemeClr val="lt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417" name="Google Shape;417;p66"/>
          <p:cNvSpPr txBox="1"/>
          <p:nvPr/>
        </p:nvSpPr>
        <p:spPr>
          <a:xfrm>
            <a:off x="6155238" y="4606725"/>
            <a:ext cx="286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Cat Toy Lid</a:t>
            </a:r>
            <a:endParaRPr sz="1500">
              <a:solidFill>
                <a:schemeClr val="lt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pic>
        <p:nvPicPr>
          <p:cNvPr id="418" name="Google Shape;418;p66" title="Screenshot 2025-04-23 at 8.00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1197" y="2055775"/>
            <a:ext cx="2861601" cy="2352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6" title="Screenshot 2025-04-23 at 8.03.39 PM.png"/>
          <p:cNvPicPr preferRelativeResize="0"/>
          <p:nvPr/>
        </p:nvPicPr>
        <p:blipFill rotWithShape="1">
          <a:blip r:embed="rId5">
            <a:alphaModFix/>
          </a:blip>
          <a:srcRect b="-2743" l="-70" r="0" t="0"/>
          <a:stretch/>
        </p:blipFill>
        <p:spPr>
          <a:xfrm>
            <a:off x="6155196" y="1738600"/>
            <a:ext cx="2862072" cy="267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"/>
          <p:cNvSpPr txBox="1"/>
          <p:nvPr>
            <p:ph type="title"/>
          </p:nvPr>
        </p:nvSpPr>
        <p:spPr>
          <a:xfrm>
            <a:off x="311700" y="535850"/>
            <a:ext cx="869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IOT CONNECTION</a:t>
            </a:r>
            <a:endParaRPr sz="3600"/>
          </a:p>
        </p:txBody>
      </p:sp>
      <p:sp>
        <p:nvSpPr>
          <p:cNvPr id="425" name="Google Shape;425;p67"/>
          <p:cNvSpPr txBox="1"/>
          <p:nvPr>
            <p:ph idx="1" type="body"/>
          </p:nvPr>
        </p:nvSpPr>
        <p:spPr>
          <a:xfrm>
            <a:off x="311700" y="1389600"/>
            <a:ext cx="8316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"/>
              <a:buAutoNum type="romanUcPeriod"/>
            </a:pPr>
            <a:r>
              <a:rPr lang="en" sz="1900">
                <a:latin typeface="Barlow ExtraLight"/>
                <a:ea typeface="Barlow ExtraLight"/>
                <a:cs typeface="Barlow ExtraLight"/>
                <a:sym typeface="Barlow ExtraLight"/>
              </a:rPr>
              <a:t>ESP32 modules communicate using ESP-NOW:</a:t>
            </a:r>
            <a:endParaRPr sz="19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49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"/>
              <a:buAutoNum type="romanUcPeriod"/>
            </a:pPr>
            <a:r>
              <a:rPr lang="en" sz="1900">
                <a:latin typeface="Barlow ExtraLight"/>
                <a:ea typeface="Barlow ExtraLight"/>
                <a:cs typeface="Barlow ExtraLight"/>
                <a:sym typeface="Barlow ExtraLight"/>
              </a:rPr>
              <a:t>The Sensor ESP32 sends paw detection events to the Base ESP32, which executes laser and motor actions</a:t>
            </a:r>
            <a:endParaRPr sz="19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-349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"/>
              <a:buAutoNum type="romanUcPeriod"/>
            </a:pPr>
            <a:r>
              <a:rPr lang="en" sz="1900">
                <a:latin typeface="Barlow ExtraLight"/>
                <a:ea typeface="Barlow ExtraLight"/>
                <a:cs typeface="Barlow ExtraLight"/>
                <a:sym typeface="Barlow ExtraLight"/>
              </a:rPr>
              <a:t>The Trigger ESP32 sends a wake signal to the others only if the photoresistor detects low light and the button is pressed</a:t>
            </a:r>
            <a:endParaRPr sz="1900">
              <a:latin typeface="Barlow ExtraLight"/>
              <a:ea typeface="Barlow ExtraLight"/>
              <a:cs typeface="Barlow ExtraLight"/>
              <a:sym typeface="Barlow Extra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8"/>
          <p:cNvSpPr txBox="1"/>
          <p:nvPr>
            <p:ph type="title"/>
          </p:nvPr>
        </p:nvSpPr>
        <p:spPr>
          <a:xfrm>
            <a:off x="311700" y="555600"/>
            <a:ext cx="8603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</a:rPr>
              <a:t>RELEVANT CODE</a:t>
            </a:r>
            <a:endParaRPr sz="3200">
              <a:solidFill>
                <a:schemeClr val="accent3"/>
              </a:solidFill>
            </a:endParaRPr>
          </a:p>
        </p:txBody>
      </p:sp>
      <p:sp>
        <p:nvSpPr>
          <p:cNvPr id="431" name="Google Shape;431;p68"/>
          <p:cNvSpPr txBox="1"/>
          <p:nvPr/>
        </p:nvSpPr>
        <p:spPr>
          <a:xfrm>
            <a:off x="311700" y="1363025"/>
            <a:ext cx="84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All relevant code included in : </a:t>
            </a:r>
            <a:r>
              <a:rPr lang="en" u="sng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CODE INFO</a:t>
            </a:r>
            <a:endParaRPr sz="1500">
              <a:solidFill>
                <a:schemeClr val="accent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